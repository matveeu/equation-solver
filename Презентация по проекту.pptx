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698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201FB46-36B1-4405-8E10-2FBDE12CBC75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698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B52B50E-7156-47E8-8D0A-31C7DED42500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matveeu/Equation-solver" TargetMode="External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0000" y="157176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Сравнени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численны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х методов</a:t>
            </a:r>
            <a:br>
              <a:rPr sz="3200"/>
            </a:b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решения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уравнений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40000" y="3024720"/>
            <a:ext cx="9069840" cy="23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Выполнил: ученик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10Б класса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Субботин Матвей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Денисович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Руководитель: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учитель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информатики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Филатов Алексей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Александрович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Липецк, 2026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9538200" cy="371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 все уравнения решаются аналитически (точно).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Пример: x⁵+x−1 = 0 — не имеет решения в радикалах.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Уравнения с тригонометрическими, показательными и логарифмическими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функциями (например, sin(x) = 0.5, eˣ = 10, ln(x) = 2) также не имеют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аналитического решения в элементарных функциях.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Такие уравнения решаются только численными методами — приближённо, с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заданной точностью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Задача: выбрать наиболее эффективный метод для конкретного случая.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Актуально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сть</a:t>
            </a:r>
            <a:r>
              <a:rPr lang="ru-RU" sz="28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 и </a:t>
            </a:r>
            <a:r>
              <a:rPr lang="ru-RU" sz="28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проблема</a:t>
            </a:r>
            <a:endParaRPr lang="ru-RU" sz="28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Цель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задачи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8200" cy="407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indent="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Цель: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разработать программу для сравнения трёх численных методов и определить их эффективность.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Задачи: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Изучить методы бисекции, хорд и Ньютона.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Реализовать их на языке C++.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Обеспечить поддержку 6 типов функций.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Провести вычислительные эксперименты.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Сравнить методы по числу итераций.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Сформулировать рекомендации по выбору метода.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Объект,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предмет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гипотеза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исследова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29480" y="1440000"/>
            <a:ext cx="928908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Объект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численные методы решения нелинейных уравнений.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Предмет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скорость сходимости и количество итераций при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заданной точности.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Гипотеза исследования: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Если для решения уравнения использовать метод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Ньютона, то количество итераций будет меньше, чем при использовании метода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хорд или метода половинного деления, благодаря квадратичной сходимости.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Основные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понятия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840" cy="33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Численный метод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последовательность действий для приближённого решения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Итерация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один шаг вычислительного процесса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Сходимость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свойство последовательности приближений стремиться к корню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Линейная (бисекция)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Сверхлинейная (хорд)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Квадратичная (Ньютон)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Точность (ε)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условие остановки: |b-a| &lt; ε или |x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n+1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- 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| &lt; ε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-144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(половинн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ого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деления)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306360" y="946800"/>
            <a:ext cx="929952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c = (a + b) / 2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Условие: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f(a) · f(b) &lt; 0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гарантированная сходимость, не требуется производная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линейная скорость сходимости (медленный)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4" name=""/>
          <p:cNvPicPr/>
          <p:nvPr/>
        </p:nvPicPr>
        <p:blipFill>
          <a:blip r:embed="rId1"/>
          <a:stretch/>
        </p:blipFill>
        <p:spPr>
          <a:xfrm>
            <a:off x="1702440" y="3006720"/>
            <a:ext cx="3779640" cy="2436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 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720000" y="1452240"/>
            <a:ext cx="8670960" cy="3225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-144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хорд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(секущих)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294840" y="946800"/>
            <a:ext cx="931068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n+1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= 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− f(x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) · (x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− 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n-1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) / (f(x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) − f(x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n-1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))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быстрее бисекции, не требует производной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сверхлинейная сходимость (средняя), может расходиться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9" name=""/>
          <p:cNvPicPr/>
          <p:nvPr/>
        </p:nvPicPr>
        <p:blipFill>
          <a:blip r:embed="rId1"/>
          <a:stretch/>
        </p:blipFill>
        <p:spPr>
          <a:xfrm>
            <a:off x="1266480" y="2393640"/>
            <a:ext cx="3846600" cy="319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2"/>
          <a:stretch/>
        </p:blipFill>
        <p:spPr>
          <a:xfrm>
            <a:off x="5613120" y="2406600"/>
            <a:ext cx="3845160" cy="3033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 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хорд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720000" y="1260000"/>
            <a:ext cx="8711280" cy="414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-144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Ньютона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(касатель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ных)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88360" y="946800"/>
            <a:ext cx="928548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n+1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= 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− f(x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) / f'(x</a:t>
            </a:r>
            <a:r>
              <a:rPr lang="ru-RU" sz="2000" b="0" u="none" strike="noStrike" baseline="-8000">
                <a:solidFill>
                  <a:srgbClr val="2D2D2D"/>
                </a:solidFill>
                <a:effectLst/>
                <a:uFillTx/>
                <a:latin typeface="Arial"/>
              </a:rPr>
              <a:t>n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квадратичная сходимость (очень быстрый)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требуется производная, сходится только при хорошем начальном приближении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1344600" y="2716560"/>
            <a:ext cx="4159080" cy="270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 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Ньютона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286920" y="1210320"/>
            <a:ext cx="9498240" cy="428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-14652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Демонстрация работы программы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9" name=""/>
          <p:cNvPicPr/>
          <p:nvPr/>
        </p:nvPicPr>
        <p:blipFill>
          <a:blip r:embed="rId1"/>
          <a:stretch/>
        </p:blipFill>
        <p:spPr>
          <a:xfrm>
            <a:off x="504000" y="702360"/>
            <a:ext cx="2720880" cy="193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"/>
          <p:cNvPicPr/>
          <p:nvPr/>
        </p:nvPicPr>
        <p:blipFill>
          <a:blip r:embed="rId2"/>
          <a:stretch/>
        </p:blipFill>
        <p:spPr>
          <a:xfrm>
            <a:off x="3688920" y="702360"/>
            <a:ext cx="2550960" cy="192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"/>
          <p:cNvPicPr/>
          <p:nvPr/>
        </p:nvPicPr>
        <p:blipFill>
          <a:blip r:embed="rId3"/>
          <a:stretch/>
        </p:blipFill>
        <p:spPr>
          <a:xfrm>
            <a:off x="784440" y="2793240"/>
            <a:ext cx="4137480" cy="232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"/>
          <p:cNvPicPr/>
          <p:nvPr/>
        </p:nvPicPr>
        <p:blipFill>
          <a:blip r:embed="rId4"/>
          <a:stretch/>
        </p:blipFill>
        <p:spPr>
          <a:xfrm>
            <a:off x="5287680" y="2792880"/>
            <a:ext cx="3993480" cy="232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"/>
          <p:cNvPicPr/>
          <p:nvPr/>
        </p:nvPicPr>
        <p:blipFill>
          <a:blip r:embed="rId5"/>
          <a:stretch/>
        </p:blipFill>
        <p:spPr>
          <a:xfrm>
            <a:off x="6693120" y="702360"/>
            <a:ext cx="2880720" cy="191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"/>
          <p:cNvSpPr/>
          <p:nvPr/>
        </p:nvSpPr>
        <p:spPr>
          <a:xfrm>
            <a:off x="718560" y="5269680"/>
            <a:ext cx="8769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Пример работы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программы: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решение уравнения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x</a:t>
            </a:r>
            <a:r>
              <a:rPr lang="ru-RU" sz="1800" b="0" u="none" strike="noStrike" baseline="3300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− 2 = 0 методом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Ньютона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Сравнительная характеристика методов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504000" y="1517400"/>
          <a:ext cx="9071280" cy="2080080"/>
        </p:xfrm>
        <a:graphic>
          <a:graphicData uri="http://schemas.openxmlformats.org/drawingml/2006/table">
            <a:tbl>
              <a:tblPr/>
              <a:tblGrid>
                <a:gridCol w="2863080"/>
                <a:gridCol w="2088720"/>
                <a:gridCol w="2072160"/>
                <a:gridCol w="204768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Характеристика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Скорость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Сверхлинейная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Квадратичная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Требуется производная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Начальные данные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отрезок [a, b]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две точки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,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одна точка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Гарантия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Абсолютная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Условная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Локальная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Типичное число итераций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14-17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10240"/>
            <a:ext cx="9069840" cy="97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Результаты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эксперимент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ов (ε =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0.0001)</a:t>
            </a:r>
            <a:br>
              <a:rPr sz="3200"/>
            </a:b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(сравнение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количества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итераций)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512280" y="1453680"/>
          <a:ext cx="9071280" cy="2426760"/>
        </p:xfrm>
        <a:graphic>
          <a:graphicData uri="http://schemas.openxmlformats.org/drawingml/2006/table">
            <a:tbl>
              <a:tblPr/>
              <a:tblGrid>
                <a:gridCol w="2267640"/>
                <a:gridCol w="2267640"/>
                <a:gridCol w="2267640"/>
                <a:gridCol w="226872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Функция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2x − 4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x² − 2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4/x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sin(x) = 0.5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eˣ = 10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ln(x)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Выводы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172520"/>
            <a:ext cx="9069840" cy="391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Ньютона показал наименьшее количество итераций (4-5) – самый быстрый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хорд – промежуточное значение (2-9 итераций)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бисекции – наибольшее количество итераций (14-17), но абсолютно надёжный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18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Рекомендации по выбору метода: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Нужна гарантия корня → бисекция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Есть производная и хорошее приближение → Ньютон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Производной нет или считать сложно → хорд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Заключение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54116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Цели проекта достигнуты, гипотеза подтверждена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Программа реализована на C++ с поддержкой 6 типов функций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Проведённые эксперименты подтвердили гипотезу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Исходный код опубликован на GitHub: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  <a:ea typeface="Noto Sans CJK SC"/>
              </a:rPr>
              <a:t>      </a:t>
            </a:r>
            <a:r>
              <a:rPr lang="ru-RU" sz="2000" b="0" u="sng" strike="noStrike">
                <a:solidFill>
                  <a:srgbClr val="0000EE"/>
                </a:solidFill>
                <a:effectLst/>
                <a:uFillTx/>
                <a:latin typeface="Arial"/>
                <a:ea typeface="Noto Sans CJK SC"/>
                <a:hlinkClick r:id="rId1"/>
              </a:rPr>
              <a:t>https://github.com/matveeu/Equation-solver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2026-05-16T21:35:02Z</dcterms:created>
  <dc:creator/>
  <dc:description/>
  <dc:language>ru-RU</dc:language>
  <cp:lastModifiedBy/>
  <dcterms:modified xsi:type="dcterms:W3CDTF">2026-05-19T23:00:19Z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