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884"/>
              </a:spcBef>
              <a:buNone/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AD210A-FEDB-4671-A88A-A5C1231F07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C8F2BC-79FA-4410-8A93-E6E2A021CE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36F76B8-822B-423E-87D0-2634D4C68C98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matveeu/Equation-solver" TargetMode="External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40000" y="157356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Сравнение численных методов</a:t>
            </a:r>
            <a:br>
              <a:rPr sz="3200"/>
            </a:b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решения уравнений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40000" y="3024720"/>
            <a:ext cx="9071640" cy="23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just">
              <a:buNone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Выполнил: ученик 10Б класса Субботин Матвей Денисович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buNone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Руководитель: учитель информатики Филатов Алексей Александрович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Липецк, 2026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9540000" cy="371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just"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 все уравнения решаются аналитически (точно).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Пример: x⁵+x−1 = 0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— не имеет решения в радикалах.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Уравнения с тригонометрическими, показательными и логарифмическими функциями (например, sin(x) = 0.5, eˣ = 10, ln(x) = 2) также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 имеют аналитического решения в элементарных функциях.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Такие уравнения решаются только численными методами — приближённо, с заданной точностью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Задача: выбрать наиболее эффективный метод для конкретного случая.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Актуальность</a:t>
            </a:r>
            <a:r>
              <a:rPr lang="ru-RU" sz="28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 и проблема</a:t>
            </a:r>
            <a:endParaRPr lang="ru-RU" sz="28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Цель и задачи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360000" y="1326600"/>
            <a:ext cx="9360000" cy="407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Цель: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разработать программу для сравнения трёх численных методов 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   определить их эффективность.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Задачи: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Изучить методы бисекции, хорд и Ньютона.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Реализовать их на языке C++.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Обеспечить поддержку 6 типов функций.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Провести вычислительные эксперименты.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Сравнить методы по числу итераций.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Сформулировать рекомендации по выбору метода.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Объект и предмет исследования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596600"/>
            <a:ext cx="929088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spcBef>
                <a:spcPts val="884"/>
              </a:spcBef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Объект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численные методы решения нелинейных уравнений.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884"/>
              </a:spcBef>
              <a:buNone/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884"/>
              </a:spcBef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Предмет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скорость сходимости и количество итераций при заданной точности.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Основные понятия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3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Численный метод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последовательность действий для приближённого решения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Итерация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один шаг вычислительного процесса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Сходимость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свойство последовательности приближений стремиться к корню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Линейная (бисекция)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Сверхлинейная (хорд)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Квадратичная (Ньютон)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Точность (ε)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условие остановки: |b-a| &lt; ε или |xₙ₊₁ - xₙ| &lt; ε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бисекции (половинного деления)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36040" y="13824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c = (a + b) / 2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Условие: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f(a) · f(b) &lt; 0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гарантированная сходимость, не требуется производная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линейная скорость сходимости (медленный)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метода бисекции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24" name=""/>
          <p:cNvPicPr/>
          <p:nvPr/>
        </p:nvPicPr>
        <p:blipFill>
          <a:blip r:embed="rId1"/>
          <a:stretch/>
        </p:blipFill>
        <p:spPr>
          <a:xfrm>
            <a:off x="720000" y="1452240"/>
            <a:ext cx="8672760" cy="322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хорд (секущих)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35680" y="144576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1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1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xₙ₊₁ = xₙ − f(xₙ) · (xₙ − xₙ₋₁) / (f(xₙ) − f(xₙ₋₁))</a:t>
            </a:r>
            <a:endParaRPr lang="ru-RU" sz="21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1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1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быстрее бисекции, не требует производной</a:t>
            </a:r>
            <a:endParaRPr lang="ru-RU" sz="21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1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1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сверхлинейная сходимость (средняя), может расходиться</a:t>
            </a:r>
            <a:endParaRPr lang="ru-RU" sz="21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метода хорд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28" name=""/>
          <p:cNvPicPr/>
          <p:nvPr/>
        </p:nvPicPr>
        <p:blipFill>
          <a:blip r:embed="rId1"/>
          <a:stretch/>
        </p:blipFill>
        <p:spPr>
          <a:xfrm>
            <a:off x="720000" y="1260000"/>
            <a:ext cx="8713080" cy="414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Ньютона (касательных)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5012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xₙ₊₁ = xₙ − f(xₙ) / f'(xₙ)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квадратичная сходимость (очень быстрый)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требуется производная, сходится только при хорошем начальном приближении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spcBef>
                <a:spcPts val="1191"/>
              </a:spcBef>
              <a:spcAft>
                <a:spcPts val="992"/>
              </a:spcAft>
              <a:buNone/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метода Ньютона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286920" y="1210320"/>
            <a:ext cx="9500040" cy="4289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-144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Демонстрация работы программы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4" name=""/>
          <p:cNvPicPr/>
          <p:nvPr/>
        </p:nvPicPr>
        <p:blipFill>
          <a:blip r:embed="rId1"/>
          <a:stretch/>
        </p:blipFill>
        <p:spPr>
          <a:xfrm>
            <a:off x="504000" y="702360"/>
            <a:ext cx="2722680" cy="193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2"/>
          <a:stretch/>
        </p:blipFill>
        <p:spPr>
          <a:xfrm>
            <a:off x="3688920" y="702360"/>
            <a:ext cx="2552760" cy="192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"/>
          <p:cNvPicPr/>
          <p:nvPr/>
        </p:nvPicPr>
        <p:blipFill>
          <a:blip r:embed="rId3"/>
          <a:stretch/>
        </p:blipFill>
        <p:spPr>
          <a:xfrm>
            <a:off x="784440" y="2793240"/>
            <a:ext cx="4139280" cy="23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" name=""/>
          <p:cNvPicPr/>
          <p:nvPr/>
        </p:nvPicPr>
        <p:blipFill>
          <a:blip r:embed="rId4"/>
          <a:stretch/>
        </p:blipFill>
        <p:spPr>
          <a:xfrm>
            <a:off x="5287680" y="2792880"/>
            <a:ext cx="3995280" cy="232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"/>
          <p:cNvPicPr/>
          <p:nvPr/>
        </p:nvPicPr>
        <p:blipFill>
          <a:blip r:embed="rId5"/>
          <a:stretch/>
        </p:blipFill>
        <p:spPr>
          <a:xfrm>
            <a:off x="6693120" y="702360"/>
            <a:ext cx="2882520" cy="192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"/>
          <p:cNvSpPr txBox="1"/>
          <p:nvPr/>
        </p:nvSpPr>
        <p:spPr>
          <a:xfrm>
            <a:off x="718560" y="5269680"/>
            <a:ext cx="877176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Пример работы программы: решение уравнения x² − 2 = 0 методом Ньютона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Сравнительная характеристика методов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" name=""/>
          <p:cNvGraphicFramePr/>
          <p:nvPr/>
        </p:nvGraphicFramePr>
        <p:xfrm>
          <a:off x="504000" y="1517400"/>
          <a:ext cx="9071280" cy="2077560"/>
        </p:xfrm>
        <a:graphic>
          <a:graphicData uri="http://schemas.openxmlformats.org/drawingml/2006/table">
            <a:tbl>
              <a:tblPr/>
              <a:tblGrid>
                <a:gridCol w="2863080"/>
                <a:gridCol w="2088720"/>
                <a:gridCol w="2072160"/>
                <a:gridCol w="204768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Характеристика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Скорость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Сверхлинейная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Квадратичная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Требуется производная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Начальные данные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отрезок [a, b]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две точки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,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одна точка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Гарантия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Абсолютная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Условная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Локальная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Типичное число итераций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14-17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Результаты экспериментов (ε = 0.0001)</a:t>
            </a:r>
            <a:br>
              <a:rPr sz="1600"/>
            </a:b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"/>
          <p:cNvGraphicFramePr/>
          <p:nvPr/>
        </p:nvGraphicFramePr>
        <p:xfrm>
          <a:off x="512280" y="1453680"/>
          <a:ext cx="9071280" cy="2077560"/>
        </p:xfrm>
        <a:graphic>
          <a:graphicData uri="http://schemas.openxmlformats.org/drawingml/2006/table">
            <a:tbl>
              <a:tblPr/>
              <a:tblGrid>
                <a:gridCol w="2267640"/>
                <a:gridCol w="2267640"/>
                <a:gridCol w="2267640"/>
                <a:gridCol w="2268720"/>
              </a:tblGrid>
              <a:tr h="346320">
                <a:tc>
                  <a:txBody>
                    <a:bodyPr lIns="36000" tIns="36000" rIns="36000" bIns="36000" anchor="t" anchorCtr="1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Функция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spcBef>
                          <a:spcPts val="1191"/>
                        </a:spcBef>
                        <a:spcAft>
                          <a:spcPts val="992"/>
                        </a:spcAft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2x − 4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spcBef>
                          <a:spcPts val="1191"/>
                        </a:spcBef>
                        <a:spcAft>
                          <a:spcPts val="992"/>
                        </a:spcAft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x² − 2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spcBef>
                          <a:spcPts val="1191"/>
                        </a:spcBef>
                        <a:spcAft>
                          <a:spcPts val="992"/>
                        </a:spcAft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4/x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spcBef>
                          <a:spcPts val="1191"/>
                        </a:spcBef>
                        <a:spcAft>
                          <a:spcPts val="992"/>
                        </a:spcAft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sin(x) = 0.5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spcBef>
                          <a:spcPts val="1191"/>
                        </a:spcBef>
                        <a:spcAft>
                          <a:spcPts val="992"/>
                        </a:spcAft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eˣ = 10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spcBef>
                          <a:spcPts val="1191"/>
                        </a:spcBef>
                        <a:spcAft>
                          <a:spcPts val="992"/>
                        </a:spcAft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ln(x)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Выводы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Ньютона показал наименьшее количество итераций (4-5) – самый быстрый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хорд – промежуточное значение (2-9 итераций)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бисекции – наибольшее количество итераций (14-17), но абсолютно надёжный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18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Рекомендации по выбору метода: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Нужна гарантия корня → бисекция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Есть производная и хорошее приближение → Ньютон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Производной нет или считать сложно → хорд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Заключение</a:t>
            </a:r>
            <a:endParaRPr lang="ru-RU" sz="3200" b="1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000" y="154116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Цели проекта достигнуты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Программа реализована на C++ с поддержкой 6 типов функций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Проведённые эксперименты подтвердили гипотезу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Исходный код опубликован на GitHub: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  <a:ea typeface="Noto Sans CJK SC"/>
              </a:rPr>
              <a:t>      </a:t>
            </a: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  <a:ea typeface="Noto Sans CJK SC"/>
                <a:hlinkClick r:id="rId1"/>
              </a:rPr>
              <a:t>https://github.com/matveeu/Equation-solver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2026-05-16T21:35:02Z</dcterms:created>
  <dc:creator/>
  <dc:description/>
  <dc:language>ru-RU</dc:language>
  <cp:lastModifiedBy/>
  <dcterms:modified xsi:type="dcterms:W3CDTF">2026-05-16T23:22:36Z</dcterms:modified>
  <cp:revision>5</cp:revision>
  <dc:subject/>
  <dc:title/>
</cp:coreProperties>
</file>