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70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01CF58-C2DF-4A7D-A27A-B3DAB71CCAC3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bg>
      <p:bgPr>
        <a:solidFill>
          <a:srgbClr val="FFF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455040"/>
            <a:ext cx="907092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Для правки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текста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3200" b="0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мышью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383227E-8B12-4EBA-A194-3392EDBE1D0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github.com/matveeu/Equation-solver" TargetMode="External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0000" y="15728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Сравнение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численных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методов</a:t>
            </a:r>
            <a:br>
              <a:rPr sz="3200"/>
            </a:b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решения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уравнений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40000" y="3024720"/>
            <a:ext cx="9070920" cy="23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Выполнил: ученик 10Б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класса Субботин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Матвей Денисович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Руководитель: учитель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информатики Филатов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Алексей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Александрович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Липецк, 2026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9539280" cy="371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8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 все уравнения решаются аналитически (точно).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Пример: x⁵+x−1 = 0 — не имеет решения в радикалах.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Уравнения с тригонометрическими, показательными и логарифмическими функциями (например, sin(x) = 0.5, eˣ = 10, ln(x) = 2) также не имеют аналитического решения в элементарных функциях.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Такие уравнения решаются только численными методами — приближённо, с заданной точностью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Задача: выбрать наиболее эффективный метод для конкретного случая.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Актуальност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ь</a:t>
            </a:r>
            <a:r>
              <a:rPr lang="ru-RU" sz="28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 и проблема</a:t>
            </a:r>
            <a:endParaRPr lang="ru-RU" sz="28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Цель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задачи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9280" cy="407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Цель: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разработать программу для сравнения трёх численных методов и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	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   определить их эффективность.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Задачи: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Изучить методы бисекции, хорд и Ньютона.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Реализовать их на языке C++.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Обеспечить поддержку 6 типов функций.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Провести вычислительные эксперименты.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Сравнить методы по числу итераций.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AutoNum type="arabicPeriod"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Сформулировать рекомендации по выбору метода.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Объект,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предмет 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гипотеза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исследовани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29480" y="1440000"/>
            <a:ext cx="92901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Объект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численные методы решения нелинейных уравнений.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Предмет исследования: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скорость сходимости и количество итераций при заданной точности.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884"/>
              </a:spcBef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Гипотеза исследования: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Если для решения уравнения использовать метод Ньютона, то количество итераций будет меньше, чем при использовании метода хорд или метода половинного деления, благодаря квадратичной сходимости.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Основные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понятия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38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Численный метод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последовательность действий для приближённого решения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Итерация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один шаг вычислительного процесса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Сходимость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свойство последовательности приближений стремиться к корню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Линейная (бисекция)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Сверхлинейная (хорд)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2000" b="0" u="sng" strike="noStrike">
                <a:solidFill>
                  <a:srgbClr val="2D2D2D"/>
                </a:solidFill>
                <a:effectLst/>
                <a:uFillTx/>
                <a:latin typeface="Arial"/>
              </a:rPr>
              <a:t>Квадратичная (Ньютон)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Точность (ε)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– условие остановки: |b-a| &lt; ε или |xₙ₊₁ - xₙ| &lt; ε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(половинног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о деления)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306360" y="946800"/>
            <a:ext cx="930060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c = (a + b) / 2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Условие: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f(a) · f(b) &lt; 0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гарантированная сходимость, не требуется производная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линейная скорость сходимости (медленный)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4" name=""/>
          <p:cNvPicPr/>
          <p:nvPr/>
        </p:nvPicPr>
        <p:blipFill>
          <a:blip r:embed="rId1"/>
          <a:stretch/>
        </p:blipFill>
        <p:spPr>
          <a:xfrm>
            <a:off x="1702440" y="3006720"/>
            <a:ext cx="3780720" cy="243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бисекции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720000" y="1452240"/>
            <a:ext cx="8672040" cy="322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хорд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(секущих)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294840" y="946800"/>
            <a:ext cx="93117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xₙ₊₁ = xₙ − f(xₙ) · (xₙ − xₙ₋₁) / (f(xₙ) − f(xₙ₋₁))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быстрее бисекции, не требует производной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сверхлинейная сходимость (средняя), может расходиться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29" name=""/>
          <p:cNvPicPr/>
          <p:nvPr/>
        </p:nvPicPr>
        <p:blipFill>
          <a:blip r:embed="rId1"/>
          <a:stretch/>
        </p:blipFill>
        <p:spPr>
          <a:xfrm>
            <a:off x="1266480" y="2393640"/>
            <a:ext cx="3847680" cy="319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2"/>
          <a:stretch/>
        </p:blipFill>
        <p:spPr>
          <a:xfrm>
            <a:off x="5613120" y="2406600"/>
            <a:ext cx="3846240" cy="303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Реализация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метода хорд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720000" y="1260000"/>
            <a:ext cx="8712360" cy="414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-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Метод Ньютона (касательных)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88360" y="946800"/>
            <a:ext cx="928656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Формула: 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xₙ₊₁ = xₙ − f(xₙ) / f'(xₙ)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Достоинства: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квадратичная сходимость (очень быстрый)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r>
              <a:rPr lang="ru-RU" sz="20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Недостатки:</a:t>
            </a: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 требуется производная, сходится только при хорошем начальном приближении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None/>
              <a:tabLst>
                <a:tab pos="0" algn="l"/>
              </a:tabLst>
            </a:pPr>
            <a:endParaRPr lang="ru-RU" sz="1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1344600" y="2716560"/>
            <a:ext cx="4160160" cy="270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Реализаци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я метода </a:t>
            </a: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Ньютона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7" name=""/>
          <p:cNvPicPr/>
          <p:nvPr/>
        </p:nvPicPr>
        <p:blipFill>
          <a:blip r:embed="rId1"/>
          <a:stretch/>
        </p:blipFill>
        <p:spPr>
          <a:xfrm>
            <a:off x="286920" y="1210320"/>
            <a:ext cx="9499320" cy="428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-1454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Демонстрация работы программы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pic>
        <p:nvPicPr>
          <p:cNvPr id="39" name=""/>
          <p:cNvPicPr/>
          <p:nvPr/>
        </p:nvPicPr>
        <p:blipFill>
          <a:blip r:embed="rId1"/>
          <a:stretch/>
        </p:blipFill>
        <p:spPr>
          <a:xfrm>
            <a:off x="504000" y="702360"/>
            <a:ext cx="2721960" cy="1933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"/>
          <p:cNvPicPr/>
          <p:nvPr/>
        </p:nvPicPr>
        <p:blipFill>
          <a:blip r:embed="rId2"/>
          <a:stretch/>
        </p:blipFill>
        <p:spPr>
          <a:xfrm>
            <a:off x="3688920" y="702360"/>
            <a:ext cx="2552040" cy="192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"/>
          <p:cNvPicPr/>
          <p:nvPr/>
        </p:nvPicPr>
        <p:blipFill>
          <a:blip r:embed="rId3"/>
          <a:stretch/>
        </p:blipFill>
        <p:spPr>
          <a:xfrm>
            <a:off x="784440" y="2793240"/>
            <a:ext cx="4138560" cy="2327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"/>
          <p:cNvPicPr/>
          <p:nvPr/>
        </p:nvPicPr>
        <p:blipFill>
          <a:blip r:embed="rId4"/>
          <a:stretch/>
        </p:blipFill>
        <p:spPr>
          <a:xfrm>
            <a:off x="5287680" y="2792880"/>
            <a:ext cx="3994560" cy="232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"/>
          <p:cNvPicPr/>
          <p:nvPr/>
        </p:nvPicPr>
        <p:blipFill>
          <a:blip r:embed="rId5"/>
          <a:stretch/>
        </p:blipFill>
        <p:spPr>
          <a:xfrm>
            <a:off x="6693120" y="702360"/>
            <a:ext cx="2881800" cy="192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"/>
          <p:cNvSpPr/>
          <p:nvPr/>
        </p:nvSpPr>
        <p:spPr>
          <a:xfrm>
            <a:off x="718560" y="5269680"/>
            <a:ext cx="877104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Пример работы программы: решение уравнения x² − 2 = 0 методом Ньютона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Сравнительная характеристика методов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504000" y="1517400"/>
          <a:ext cx="9071280" cy="2080080"/>
        </p:xfrm>
        <a:graphic>
          <a:graphicData uri="http://schemas.openxmlformats.org/drawingml/2006/table">
            <a:tbl>
              <a:tblPr/>
              <a:tblGrid>
                <a:gridCol w="2863080"/>
                <a:gridCol w="2088720"/>
                <a:gridCol w="2072160"/>
                <a:gridCol w="204768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Характеристика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Скорость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Сверхлинейная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Квадратичная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Требуется производная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Начальные данные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отрезок [a, b]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две точки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,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одна точка x</a:t>
                      </a:r>
                      <a:r>
                        <a:rPr lang="ru-RU" sz="1800" b="0" u="none" strike="noStrike" baseline="-800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Гарантия сходимости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Абсолютная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Условная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Локальная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Типичное число итераций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14-17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2-9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3-5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Результаты экспериментов (ε = 0.0001)</a:t>
            </a:r>
            <a:br>
              <a:rPr sz="3200"/>
            </a:b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512280" y="1453680"/>
          <a:ext cx="9071280" cy="2426760"/>
        </p:xfrm>
        <a:graphic>
          <a:graphicData uri="http://schemas.openxmlformats.org/drawingml/2006/table">
            <a:tbl>
              <a:tblPr/>
              <a:tblGrid>
                <a:gridCol w="2267640"/>
                <a:gridCol w="2267640"/>
                <a:gridCol w="2267640"/>
                <a:gridCol w="226872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Функция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Бисекция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Хорд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Ньютон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2x − 4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x² − 2 = 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4/x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sin(x) = 0.5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eˣ = 10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ln(x) = 2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Выводы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Ньютона показал наименьшее количество итераций (4-5) – самый быстрый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хорд – промежуточное значение (2-9 итераций)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Метод бисекции – наибольшее количество итераций (14-17), но абсолютно надёжный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1800" b="1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Рекомендации по выбору метода: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Нужна гарантия корня → бисекция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Есть производная и хорошее приближение → Ньютон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ru-RU" sz="18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Производной нет или считать сложно → хорд</a:t>
            </a: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8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1A3A5C"/>
                </a:solidFill>
                <a:effectLst/>
                <a:uFillTx/>
                <a:latin typeface="Arial"/>
              </a:rPr>
              <a:t>Заключение</a:t>
            </a:r>
            <a:endParaRPr lang="ru-RU" sz="3200" b="0" u="none" strike="noStrike">
              <a:solidFill>
                <a:srgbClr val="1A3A5C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54116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Цели проекта достигнуты, гипотеза подтверждена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Программа реализована на C++ с поддержкой 6 типов функций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Проведённые эксперименты подтвердили гипотезу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</a:rPr>
              <a:t>Исходный код опубликован на GitHub: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rgbClr val="2D2D2D"/>
                </a:solidFill>
                <a:effectLst/>
                <a:uFillTx/>
                <a:latin typeface="Arial"/>
                <a:ea typeface="Noto Sans CJK SC"/>
              </a:rPr>
              <a:t>      </a:t>
            </a:r>
            <a:r>
              <a:rPr lang="ru-RU" sz="2000" b="0" u="sng" strike="noStrike">
                <a:solidFill>
                  <a:srgbClr val="0000EE"/>
                </a:solidFill>
                <a:effectLst/>
                <a:uFillTx/>
                <a:latin typeface="Arial"/>
                <a:ea typeface="Noto Sans CJK SC"/>
                <a:hlinkClick r:id="rId1"/>
              </a:rPr>
              <a:t>https://github.com/matveeu/Equation-solver</a:t>
            </a: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2000" b="0" u="none" strike="noStrike">
              <a:solidFill>
                <a:srgbClr val="2D2D2D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2026-05-16T21:35:02Z</dcterms:created>
  <dc:creator/>
  <dc:description/>
  <dc:language>ru-RU</dc:language>
  <cp:lastModifiedBy/>
  <dcterms:modified xsi:type="dcterms:W3CDTF">2026-05-19T21:22:33Z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