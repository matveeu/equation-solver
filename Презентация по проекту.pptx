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">
    <p:bg>
      <p:bgPr>
        <a:solidFill>
          <a:srgbClr val="FFFF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455040"/>
            <a:ext cx="9070920" cy="48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3200" b="0" u="none" strike="noStrike">
                <a:solidFill>
                  <a:srgbClr val="1A3A5C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0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884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88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F6910FE-42F3-4A9F-99AA-35A23EE15791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Обычный 1">
    <p:bg>
      <p:bgPr>
        <a:solidFill>
          <a:srgbClr val="FFFF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455040"/>
            <a:ext cx="9070920" cy="48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3200" b="0" u="none" strike="noStrike">
                <a:solidFill>
                  <a:srgbClr val="1A3A5C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0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Для правки </a:t>
            </a:r>
            <a:r>
              <a:rPr lang="ru-RU" sz="3200" b="0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текста </a:t>
            </a:r>
            <a:r>
              <a:rPr lang="ru-RU" sz="3200" b="0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заглавия </a:t>
            </a:r>
            <a:r>
              <a:rPr lang="ru-RU" sz="3200" b="0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щёлкните </a:t>
            </a:r>
            <a:r>
              <a:rPr lang="ru-RU" sz="3200" b="0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мышью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C7CDDB5-60EC-47E5-B05C-055C76D43C9B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884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88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hyperlink" Target="https://github.com/matveeu/Equation-solver" TargetMode="External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40000" y="157284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Сравнение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численных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методов</a:t>
            </a:r>
            <a:br>
              <a:rPr sz="3200"/>
            </a:b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решения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уравнений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ubTitle"/>
          </p:nvPr>
        </p:nvSpPr>
        <p:spPr>
          <a:xfrm>
            <a:off x="540000" y="3024720"/>
            <a:ext cx="9070920" cy="238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indent="0" algn="just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Выполнил: ученик 10Б 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класса Субботин 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Матвей Денисович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Руководитель: учитель 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информатики Филатов 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Алексей 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Александрович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Липецк, 2026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/>
          </p:nvPr>
        </p:nvSpPr>
        <p:spPr>
          <a:xfrm>
            <a:off x="360000" y="1326600"/>
            <a:ext cx="9539280" cy="3712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just">
              <a:lnSpc>
                <a:spcPct val="100000"/>
              </a:lnSpc>
              <a:spcBef>
                <a:spcPts val="88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Не все уравнения решаются аналитически (точно).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Пример: x⁵+x−1 = 0 — не имеет решения в радикалах.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Уравнения с тригонометрическими, показательными и логарифмическими функциями (например, sin(x) = 0.5, eˣ = 10, ln(x) = 2) также не имеют аналитического решения в элементарных функциях.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Такие уравнения решаются только численными методами — приближённо, с заданной точностью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Задача: выбрать наиболее эффективный метод для конкретного случая.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Актуальность</a:t>
            </a:r>
            <a:r>
              <a:rPr lang="ru-RU" sz="28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 и проблема</a:t>
            </a:r>
            <a:endParaRPr lang="ru-RU" sz="28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Цель и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задачи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9280" cy="4072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p>
            <a:pPr indent="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Цель: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разработать программу для сравнения трёх численных методов и 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	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	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	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	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   определить их эффективность.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Задачи: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-32400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AutoNum type="arabicPeriod"/>
              <a:tabLst>
                <a:tab pos="0" algn="l"/>
              </a:tabLst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Изучить методы бисекции, хорд и Ньютона.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-32400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AutoNum type="arabicPeriod"/>
              <a:tabLst>
                <a:tab pos="0" algn="l"/>
              </a:tabLst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Реализовать их на языке C++.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-32400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AutoNum type="arabicPeriod"/>
              <a:tabLst>
                <a:tab pos="0" algn="l"/>
              </a:tabLst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Обеспечить поддержку 6 типов функций.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-32400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AutoNum type="arabicPeriod"/>
              <a:tabLst>
                <a:tab pos="0" algn="l"/>
              </a:tabLst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Провести вычислительные эксперименты.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-32400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AutoNum type="arabicPeriod"/>
              <a:tabLst>
                <a:tab pos="0" algn="l"/>
              </a:tabLst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Сравнить методы по числу итераций.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-32400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AutoNum type="arabicPeriod"/>
              <a:tabLst>
                <a:tab pos="0" algn="l"/>
              </a:tabLst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Сформулировать рекомендации по выбору метода.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Объект,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предмет и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гипотеза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исследовани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я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29480" y="1440000"/>
            <a:ext cx="929016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just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Объект исследования: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численные методы решения нелинейных уравнений.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Предмет исследования: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скорость сходимости и количество итераций при заданной точности.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Гипотеза исследования: 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Если для решения уравнения использовать метод Ньютона, то количество итераций будет меньше, чем при использовании метода хорд или метода половинного деления, благодаря квадратичной сходимости.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Основные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понятия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920" cy="3385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p>
            <a:pPr indent="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Численный метод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– последовательность действий для приближённого решения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Итерация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– один шаг вычислительного процесса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Сходимость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– свойство последовательности приближений стремиться к корню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ru-RU" sz="2000" b="0" u="sng" strike="noStrike">
                <a:solidFill>
                  <a:srgbClr val="2D2D2D"/>
                </a:solidFill>
                <a:effectLst/>
                <a:uFillTx/>
                <a:latin typeface="Arial"/>
              </a:rPr>
              <a:t>Линейная (бисекция)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ru-RU" sz="2000" b="0" u="sng" strike="noStrike">
                <a:solidFill>
                  <a:srgbClr val="2D2D2D"/>
                </a:solidFill>
                <a:effectLst/>
                <a:uFillTx/>
                <a:latin typeface="Arial"/>
              </a:rPr>
              <a:t>Сверхлинейная (хорд)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ru-RU" sz="2000" b="0" u="sng" strike="noStrike">
                <a:solidFill>
                  <a:srgbClr val="2D2D2D"/>
                </a:solidFill>
                <a:effectLst/>
                <a:uFillTx/>
                <a:latin typeface="Arial"/>
              </a:rPr>
              <a:t>Квадратичная (Ньютон)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Точность (ε)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– условие остановки: |b-a| &lt; ε или |xₙ₊₁ - xₙ| &lt; ε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ru-RU" sz="1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-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Метод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бисекции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(половинног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о деления)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306360" y="946800"/>
            <a:ext cx="930060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just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Формула: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c = (a + b) / 2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Условие: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f(a) · f(b) &lt; 0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Достоинства: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гарантированная сходимость, не требуется производная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Недостатки: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линейная скорость сходимости (медленный)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  <p:pic>
        <p:nvPicPr>
          <p:cNvPr id="24" name=""/>
          <p:cNvPicPr/>
          <p:nvPr/>
        </p:nvPicPr>
        <p:blipFill>
          <a:blip r:embed="rId1"/>
          <a:stretch/>
        </p:blipFill>
        <p:spPr>
          <a:xfrm>
            <a:off x="1702440" y="3006720"/>
            <a:ext cx="3780720" cy="2437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Реализация метода бисекции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pic>
        <p:nvPicPr>
          <p:cNvPr id="26" name=""/>
          <p:cNvPicPr/>
          <p:nvPr/>
        </p:nvPicPr>
        <p:blipFill>
          <a:blip r:embed="rId1"/>
          <a:stretch/>
        </p:blipFill>
        <p:spPr>
          <a:xfrm>
            <a:off x="720000" y="1452240"/>
            <a:ext cx="8672040" cy="3227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504000" y="-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Метод хорд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(секущих)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294840" y="946800"/>
            <a:ext cx="931176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just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Формула: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xₙ₊₁ = xₙ − f(xₙ) · (xₙ − xₙ₋₁) / (f(xₙ) − f(xₙ₋₁))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Достоинства: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быстрее бисекции, не требует производной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Недостатки: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сверхлинейная сходимость (средняя), может расходиться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endParaRPr lang="ru-RU" sz="1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  <p:pic>
        <p:nvPicPr>
          <p:cNvPr id="29" name=""/>
          <p:cNvPicPr/>
          <p:nvPr/>
        </p:nvPicPr>
        <p:blipFill>
          <a:blip r:embed="rId1"/>
          <a:stretch/>
        </p:blipFill>
        <p:spPr>
          <a:xfrm>
            <a:off x="1266480" y="2393640"/>
            <a:ext cx="3847680" cy="3195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" name=""/>
          <p:cNvPicPr/>
          <p:nvPr/>
        </p:nvPicPr>
        <p:blipFill>
          <a:blip r:embed="rId2"/>
          <a:stretch/>
        </p:blipFill>
        <p:spPr>
          <a:xfrm>
            <a:off x="5613120" y="2406600"/>
            <a:ext cx="3846240" cy="3034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Реализация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метода хорд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pic>
        <p:nvPicPr>
          <p:cNvPr id="32" name=""/>
          <p:cNvPicPr/>
          <p:nvPr/>
        </p:nvPicPr>
        <p:blipFill>
          <a:blip r:embed="rId1"/>
          <a:stretch/>
        </p:blipFill>
        <p:spPr>
          <a:xfrm>
            <a:off x="720000" y="1260000"/>
            <a:ext cx="8712360" cy="4141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504000" y="-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Метод Ньютона (касательных)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288360" y="946800"/>
            <a:ext cx="928656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just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Формула: 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xₙ₊₁ = xₙ − f(xₙ) / f'(xₙ)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Достоинства: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квадратичная сходимость (очень быстрый)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Недостатки: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требуется производная, сходится только при хорошем начальном приближении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endParaRPr lang="ru-RU" sz="1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  <p:pic>
        <p:nvPicPr>
          <p:cNvPr id="35" name=""/>
          <p:cNvPicPr/>
          <p:nvPr/>
        </p:nvPicPr>
        <p:blipFill>
          <a:blip r:embed="rId1"/>
          <a:stretch/>
        </p:blipFill>
        <p:spPr>
          <a:xfrm>
            <a:off x="1344600" y="2716560"/>
            <a:ext cx="4160160" cy="2703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Реализация метода Ньютона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pic>
        <p:nvPicPr>
          <p:cNvPr id="37" name=""/>
          <p:cNvPicPr/>
          <p:nvPr/>
        </p:nvPicPr>
        <p:blipFill>
          <a:blip r:embed="rId1"/>
          <a:stretch/>
        </p:blipFill>
        <p:spPr>
          <a:xfrm>
            <a:off x="286920" y="1210320"/>
            <a:ext cx="9499320" cy="4288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504000" y="-14544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Демонстр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ация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работы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программ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ы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pic>
        <p:nvPicPr>
          <p:cNvPr id="39" name=""/>
          <p:cNvPicPr/>
          <p:nvPr/>
        </p:nvPicPr>
        <p:blipFill>
          <a:blip r:embed="rId1"/>
          <a:stretch/>
        </p:blipFill>
        <p:spPr>
          <a:xfrm>
            <a:off x="504000" y="702360"/>
            <a:ext cx="2721960" cy="1933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" name=""/>
          <p:cNvPicPr/>
          <p:nvPr/>
        </p:nvPicPr>
        <p:blipFill>
          <a:blip r:embed="rId2"/>
          <a:stretch/>
        </p:blipFill>
        <p:spPr>
          <a:xfrm>
            <a:off x="3688920" y="702360"/>
            <a:ext cx="2552040" cy="192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" name=""/>
          <p:cNvPicPr/>
          <p:nvPr/>
        </p:nvPicPr>
        <p:blipFill>
          <a:blip r:embed="rId3"/>
          <a:stretch/>
        </p:blipFill>
        <p:spPr>
          <a:xfrm>
            <a:off x="784440" y="2793240"/>
            <a:ext cx="4138560" cy="2327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" name=""/>
          <p:cNvPicPr/>
          <p:nvPr/>
        </p:nvPicPr>
        <p:blipFill>
          <a:blip r:embed="rId4"/>
          <a:stretch/>
        </p:blipFill>
        <p:spPr>
          <a:xfrm>
            <a:off x="5287680" y="2792880"/>
            <a:ext cx="3994560" cy="2328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" name=""/>
          <p:cNvPicPr/>
          <p:nvPr/>
        </p:nvPicPr>
        <p:blipFill>
          <a:blip r:embed="rId5"/>
          <a:stretch/>
        </p:blipFill>
        <p:spPr>
          <a:xfrm>
            <a:off x="6693120" y="702360"/>
            <a:ext cx="2881800" cy="1920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" name=""/>
          <p:cNvSpPr/>
          <p:nvPr/>
        </p:nvSpPr>
        <p:spPr>
          <a:xfrm>
            <a:off x="718560" y="5269680"/>
            <a:ext cx="8771040" cy="60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Пример работы программы: решение уравнения x² − 2 = 0 методом Ньютона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Сравнительная характеристика методов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6" name=""/>
          <p:cNvGraphicFramePr/>
          <p:nvPr/>
        </p:nvGraphicFramePr>
        <p:xfrm>
          <a:off x="504000" y="1517400"/>
          <a:ext cx="9071280" cy="2080080"/>
        </p:xfrm>
        <a:graphic>
          <a:graphicData uri="http://schemas.openxmlformats.org/drawingml/2006/table">
            <a:tbl>
              <a:tblPr/>
              <a:tblGrid>
                <a:gridCol w="2863080"/>
                <a:gridCol w="2088720"/>
                <a:gridCol w="2072160"/>
                <a:gridCol w="2047680"/>
              </a:tblGrid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Характеристика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Бисекция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Хорд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Ньютон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Скорость сходимости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Линейная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Сверхлинейная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Квадратичная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Требуется производная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Нет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Нет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Да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Начальные данные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отрезок [a, b]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две точки x</a:t>
                      </a:r>
                      <a:r>
                        <a:rPr lang="ru-RU" sz="1800" b="0" u="none" strike="noStrike" baseline="-800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, x</a:t>
                      </a:r>
                      <a:r>
                        <a:rPr lang="ru-RU" sz="1800" b="0" u="none" strike="noStrike" baseline="-800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одна точка x</a:t>
                      </a:r>
                      <a:r>
                        <a:rPr lang="ru-RU" sz="1800" b="0" u="none" strike="noStrike" baseline="-800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Гарантия сходимости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Абсолютная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Условная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Локальная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Типичное число итераций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14-17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2-9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3-5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Результаты экспериментов (ε = 0.0001)</a:t>
            </a:r>
            <a:br>
              <a:rPr sz="3200"/>
            </a:b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8" name=""/>
          <p:cNvGraphicFramePr/>
          <p:nvPr/>
        </p:nvGraphicFramePr>
        <p:xfrm>
          <a:off x="512280" y="1453680"/>
          <a:ext cx="9071280" cy="2426760"/>
        </p:xfrm>
        <a:graphic>
          <a:graphicData uri="http://schemas.openxmlformats.org/drawingml/2006/table">
            <a:tbl>
              <a:tblPr/>
              <a:tblGrid>
                <a:gridCol w="2267640"/>
                <a:gridCol w="2267640"/>
                <a:gridCol w="2267640"/>
                <a:gridCol w="2268720"/>
              </a:tblGrid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Функция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Бисекция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Хорд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Ньютон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2x − 4 = 0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16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x² − 2 = 0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15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7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4/x = 2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15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9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sin(x) = 0.5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14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4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eˣ = 10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15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7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ln(x) = 2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17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6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4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Выводы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p>
            <a:pPr marL="432000" indent="-324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Метод Ньютона показал наименьшее количество итераций (4-5) – самый быстрый</a:t>
            </a:r>
            <a:endParaRPr lang="ru-RU" sz="18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Метод хорд – промежуточное значение (2-9 итераций)</a:t>
            </a:r>
            <a:endParaRPr lang="ru-RU" sz="18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Метод бисекции – наибольшее количество итераций (14-17), но абсолютно надёжный</a:t>
            </a:r>
            <a:endParaRPr lang="ru-RU" sz="18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18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Рекомендации по выбору метода:</a:t>
            </a:r>
            <a:endParaRPr lang="ru-RU" sz="18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ru-RU" sz="18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Нужна гарантия корня → бисекция</a:t>
            </a:r>
            <a:endParaRPr lang="ru-RU" sz="18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ru-RU" sz="18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Есть производная и хорошее приближение → Ньютон</a:t>
            </a:r>
            <a:endParaRPr lang="ru-RU" sz="18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ru-RU" sz="18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Производной нет или считать сложно → хорд</a:t>
            </a:r>
            <a:endParaRPr lang="ru-RU" sz="18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ru-RU" sz="18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Заключение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504000" y="154116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Цели проекта достигнуты, гипотеза подтверждена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Программа реализована на C++ с поддержкой 6 типов функций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Проведённые эксперименты подтвердили гипотезу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Исходный код опубликован на GitHub: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  <a:ea typeface="Noto Sans CJK SC"/>
              </a:rPr>
              <a:t>      </a:t>
            </a:r>
            <a:r>
              <a:rPr lang="ru-RU" sz="2000" b="0" u="sng" strike="noStrike">
                <a:solidFill>
                  <a:srgbClr val="0000EE"/>
                </a:solidFill>
                <a:effectLst/>
                <a:uFillTx/>
                <a:latin typeface="Arial"/>
                <a:ea typeface="Noto Sans CJK SC"/>
                <a:hlinkClick r:id="rId1"/>
              </a:rPr>
              <a:t>https://github.com/matveeu/Equation-solver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46</TotalTime>
  <Application>LibreOffice/26.2.3.2$Linux_X86_64 LibreOffice_project/620$Build-2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2026-05-16T21:35:02Z</dcterms:created>
  <dc:creator/>
  <dc:description/>
  <dc:language>ru-RU</dc:language>
  <cp:lastModifiedBy/>
  <dcterms:modified xsi:type="dcterms:W3CDTF">2026-05-19T21:31:52Z</dcterms:modified>
  <cp:revision>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